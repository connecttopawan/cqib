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9B6F6">
              <a:alpha val="15000"/>
            </a:srgbClr>
          </a:solidFill>
          <a:ln w="12700">
            <a:solidFill>
              <a:srgbClr val="29B6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CASB POWER-UP SERIES  ·  COMPLETE GUIDE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CASB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Easily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walkthrough of the bank's legacy account system, data pipelines, and modern product setup — from scratch to pro.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0058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33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4114800"/>
            <a:ext cx="10058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4133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TYPES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26080" y="4114800"/>
            <a:ext cx="10058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133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26080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4114800"/>
            <a:ext cx="100584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133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QS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🏦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406640" y="2926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</a:t>
            </a:r>
            <a:endParaRPr lang="en-US" sz="1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0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2651760"/>
            <a:ext cx="16459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Chapters + Quiz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320040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0" y="320040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393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56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CASB?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6217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system, mainframes &amp;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987552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87552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0607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Types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12893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SB, Staff, Entity &amp; more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1655064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1655064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7282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0332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 vs New 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1956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Genasi rules → NAP Product Master &amp; PCID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2322576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2322576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395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BRE Bridge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26243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products get modern PCIDs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2990088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990088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0332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03320" y="32918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→ GDW → Bronze → Silver → Gold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08960" y="3657600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0" y="3657600"/>
            <a:ext cx="502920" cy="56692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7307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70332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ADA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03320" y="39593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SCD, placeholders &amp; best practices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0" y="4325112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0" y="4325112"/>
            <a:ext cx="502920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43982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70332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Quiz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03320" y="46268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— knowledge + scenarios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01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What is CASB?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CASB?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= Current Account &amp; Savings Bank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banking system used to store and manage customer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information for both individuals and businesses.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accounts are no longer offered — today CASB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handles Current Accounts.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846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88920"/>
            <a:ext cx="64008" cy="2011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IT CALLED A LEGACY SYSTEM?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Mainframe-based — big iron batch computers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529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File-based — data arrives as flat files nightly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T+1 — yesterday's data arrives today, never real-time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Decades old — running since the 1990s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594360"/>
            <a:ext cx="3200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594360"/>
            <a:ext cx="32004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758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758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Accounts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124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account type managed today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057400"/>
            <a:ext cx="3200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2057400"/>
            <a:ext cx="3200400" cy="640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2221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Since 1990s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587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historical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520440"/>
            <a:ext cx="3200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3520440"/>
            <a:ext cx="32004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685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0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T+1 Batch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050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delayed by one day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02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Account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Accounts in CASB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— Current Accounts are the primary type used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700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Accounts (CA)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transactions, deposits, withdrawals &amp; overdrafts. Main account type in CASB today.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2743200" cy="5486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50208" y="1700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Savings Accounts (SB)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Interest-bearing personal accounts. No longer offered — but old data still lives in CASB.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5448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76288" y="1700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Accounts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240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held by businesses, corporations &amp; organisations (not individuals).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24128" y="3346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Accounts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employee accounts with special terms like fee waivers or preferential rates.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2004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364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950208" y="3346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 / Operational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 accounts — fee collection, suspense, or nostro accounts.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743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364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76288" y="3346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/ Overdraft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27648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loan accounts and overdraft credit limit information stored alongside CAs.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03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Old vs New Products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Setup: Old vs New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📜  THE OLD WAY — GENASI &amp; GDW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64008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Genasi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Being replaced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rule-based product config in GDW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64008" cy="7498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Replaced by DRM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Data Manager — managed metadata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29000"/>
            <a:ext cx="64008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Active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Reference Manager — modern metadata store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(V) vs Fixed (F) Components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26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can change per customer (rate, limit, fee)   ·   F = same for all (type, fixed fee)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🆕  THE NEW WAY — NAP PRODUCT MASTER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691640"/>
            <a:ext cx="4023360" cy="1234440"/>
          </a:xfrm>
          <a:prstGeom prst="rect">
            <a:avLst/>
          </a:prstGeom>
          <a:solidFill>
            <a:srgbClr val="0D1B2A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PCID — Product Catalog 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2148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gets one unique PCID.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official product serial number.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all modern platforms &amp; digital apps.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can't CASB use NAP directly?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92040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is a mainframe system — no APIs, no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connections. It cannot communicate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modern platforms on its own.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187952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187952"/>
            <a:ext cx="64008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Solution: The BRE Bridge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4553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next slide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04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The BRE Bridge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 Bridge 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 = Product Master Business Rule Engine — translates old CASB product codes into modern PCIDs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658368" cy="65836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824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54480" y="1993392"/>
            <a:ext cx="457200" cy="0"/>
          </a:xfrm>
          <a:prstGeom prst="line">
            <a:avLst/>
          </a:prstGeom>
          <a:noFill/>
          <a:ln w="19050">
            <a:solidFill>
              <a:srgbClr val="5A6A7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2487168"/>
            <a:ext cx="1572768" cy="237744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87168"/>
            <a:ext cx="1572768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CASB sends NDH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flat files with old-format product codes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51176" y="1664208"/>
            <a:ext cx="658368" cy="65836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6824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36976" y="1993392"/>
            <a:ext cx="457200" cy="0"/>
          </a:xfrm>
          <a:prstGeom prst="line">
            <a:avLst/>
          </a:prstGeom>
          <a:noFill/>
          <a:ln w="19050">
            <a:solidFill>
              <a:srgbClr val="5A6A7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048256" y="2487168"/>
            <a:ext cx="1572768" cy="237744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48256" y="2487168"/>
            <a:ext cx="1572768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257860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 receives NDH files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39696" y="31821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Rule Engine reads old product codes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33672" y="1664208"/>
            <a:ext cx="658368" cy="6583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6824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19472" y="1993392"/>
            <a:ext cx="457200" cy="0"/>
          </a:xfrm>
          <a:prstGeom prst="line">
            <a:avLst/>
          </a:prstGeom>
          <a:noFill/>
          <a:ln w="19050">
            <a:solidFill>
              <a:srgbClr val="5A6A7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30752" y="2487168"/>
            <a:ext cx="1572768" cy="237744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2487168"/>
            <a:ext cx="1572768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257860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 maps to PCID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22192" y="31821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translator: 'CASB code XYZ = PCID 45678'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16168" y="1664208"/>
            <a:ext cx="658368" cy="6583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16168" y="16824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01968" y="1993392"/>
            <a:ext cx="457200" cy="0"/>
          </a:xfrm>
          <a:prstGeom prst="line">
            <a:avLst/>
          </a:prstGeom>
          <a:noFill/>
          <a:ln w="19050">
            <a:solidFill>
              <a:srgbClr val="5A6A7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13248" y="2487168"/>
            <a:ext cx="1572768" cy="237744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13248" y="2487168"/>
            <a:ext cx="1572768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57860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Standardised outputs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04688" y="31821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old CASB product now has a modern PCID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98664" y="1664208"/>
            <a:ext cx="658368" cy="6583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16824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095744" y="2487168"/>
            <a:ext cx="1572768" cy="237744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95744" y="2487168"/>
            <a:ext cx="1572768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7184" y="257860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 stores BOTH mappings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87184" y="318211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Genasi + new PCID — two product relationships per account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9A825">
              <a:alpha val="20000"/>
            </a:srgbClr>
          </a:solidFill>
          <a:ln w="12700">
            <a:solidFill>
              <a:srgbClr val="F9A825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90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a single account, you may see TWO product relationships — old Genasi + new PCID. That's normal and expected!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05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Data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Pipeline 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mainframe files to business-ready data — every layer explained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146304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1463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55648" y="2286000"/>
            <a:ext cx="237744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572768"/>
            <a:ext cx="146304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572768"/>
            <a:ext cx="1463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93008" y="2286000"/>
            <a:ext cx="237744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572768"/>
            <a:ext cx="1463040" cy="1417320"/>
          </a:xfrm>
          <a:prstGeom prst="rect">
            <a:avLst/>
          </a:prstGeom>
          <a:solidFill>
            <a:srgbClr val="FFF8F1"/>
          </a:solidFill>
          <a:ln w="1905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572768"/>
            <a:ext cx="1463040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🥉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7490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30368" y="2286000"/>
            <a:ext cx="237744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572768"/>
            <a:ext cx="1463040" cy="1417320"/>
          </a:xfrm>
          <a:prstGeom prst="rect">
            <a:avLst/>
          </a:prstGeom>
          <a:solidFill>
            <a:srgbClr val="F8F8F8"/>
          </a:solidFill>
          <a:ln w="19050">
            <a:solidFill>
              <a:srgbClr val="9E9E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572768"/>
            <a:ext cx="1463040" cy="5486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67728" y="2286000"/>
            <a:ext cx="237744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572768"/>
            <a:ext cx="1463040" cy="14173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572768"/>
            <a:ext cx="146304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2376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47548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200400"/>
            <a:ext cx="47548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36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 DAILY TIMING (T+1 BATCH)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Midnight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00200" y="36393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generates daily batch files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895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Morning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38953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GDW base load runs (until ~9–10 AM)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1513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🌞 2 PM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600200" y="41513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GDW value-add processing completes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407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🕓 4 PM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00200" y="4407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triggers its load from GDW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~6 PM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00200" y="4663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Silver ready — data available!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03520" y="3200400"/>
            <a:ext cx="3474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303520" y="3200400"/>
            <a:ext cx="3474720" cy="34747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13248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🥉  5 CASB BRONZE FILES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40680" y="3639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Master File — full account details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40680" y="38953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Closed Accounts — closed that day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4151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Interest Rate File — current rates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Transaction File — debits &amp; credits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40680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Withholding Tax — deductions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06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Working with 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ADA 🛠️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FFF3CD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777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350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4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GOLDEN RULE: Always join arrangement queries with the AR Translation table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6367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combines data from many source systems — without AR Translation you'll get rows from ALL systems, not just CASB.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1148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21408"/>
            <a:ext cx="411480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SCD0 vs SCD2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SCD0 = static, no history kept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SCD2 = full version history, use for point-in-time queries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Active records: end date = 2999-12-31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121408"/>
            <a:ext cx="41148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21408"/>
            <a:ext cx="41148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Confidential Accounts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237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Account numbers are masked by default in 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Need confidential data access to see full numbers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 AR Local ID to filter — no special access needed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41148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74720"/>
            <a:ext cx="41148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Placeholder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877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Missing Org Unit? ADA doesn't fail!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1239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Creates placeholder via MD5 hash of: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Institution + Source system + Account number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41148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474720"/>
            <a:ext cx="41148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BSB / Branch Info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877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Join path for BSB &amp; branch details: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41239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Arrangement → AR-IP-ORG relationship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→ IP_ORG table → BSB table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82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Unity Catalog: Use ADA_SILVER_V — join Prod Translate + Product Description (PD) for human-readable product names.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CASB Lifecycle 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view: from mainframe source to business-ready Gold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1508760" cy="1463040"/>
          </a:xfrm>
          <a:prstGeom prst="rect">
            <a:avLst/>
          </a:prstGeom>
          <a:solidFill>
            <a:srgbClr val="1A3A5C"/>
          </a:solidFill>
          <a:ln w="1905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07008"/>
            <a:ext cx="150876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files @ midnight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01368" y="1938528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207008"/>
            <a:ext cx="1508760" cy="1463040"/>
          </a:xfrm>
          <a:prstGeom prst="rect">
            <a:avLst/>
          </a:prstGeom>
          <a:solidFill>
            <a:srgbClr val="1A3A5C"/>
          </a:solidFill>
          <a:ln w="19050">
            <a:solidFill>
              <a:srgbClr val="29B6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207008"/>
            <a:ext cx="150876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1801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GDW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&amp; standardises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38728" y="1938528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207008"/>
            <a:ext cx="1508760" cy="1463040"/>
          </a:xfrm>
          <a:prstGeom prst="rect">
            <a:avLst/>
          </a:prstGeom>
          <a:solidFill>
            <a:srgbClr val="1A3A5C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207008"/>
            <a:ext cx="1508760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1801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D7F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raw CASB files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76088" y="1938528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207008"/>
            <a:ext cx="1508760" cy="1463040"/>
          </a:xfrm>
          <a:prstGeom prst="rect">
            <a:avLst/>
          </a:prstGeom>
          <a:solidFill>
            <a:srgbClr val="1A3A5C"/>
          </a:solidFill>
          <a:ln w="19050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207008"/>
            <a:ext cx="1508760" cy="5486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0" y="1801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E9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E9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IBM model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13448" y="1938528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207008"/>
            <a:ext cx="1508760" cy="1463040"/>
          </a:xfrm>
          <a:prstGeom prst="rect">
            <a:avLst/>
          </a:prstGeom>
          <a:solidFill>
            <a:srgbClr val="1A3A5C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207008"/>
            <a:ext cx="150876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31673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18013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(future)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834640"/>
            <a:ext cx="4160520" cy="210312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834640"/>
            <a:ext cx="41605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Layer Contains: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3291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Arrangements + AR Translation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Products (Genasi + PCID mappings)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3803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Interest components &amp; fee overrides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40599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Limits (credit/shadow)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" y="4315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Customer-AR relationships &amp; tax tables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4572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SCD2 history tables for balance tracking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2834640"/>
            <a:ext cx="4069080" cy="2103120"/>
          </a:xfrm>
          <a:prstGeom prst="rect">
            <a:avLst/>
          </a:prstGeom>
          <a:solidFill>
            <a:srgbClr val="1A3A5C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834640"/>
            <a:ext cx="406908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Analyst Rules: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Always join AR Translation table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3547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Account numbers masked — use AR Local ID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46320" y="3803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SCD2 for point-in-time history queries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46320" y="4059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Two product rows per account = normal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46320" y="4315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GDW data goes DIRECTLY to Silver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46320" y="4572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BSB: AR → AR-IP-ORG → IP_ORG → BSB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07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│  Quick Quiz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Your Knowledge 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— 10 knowledge checks + 10 real-world scenarios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3210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1188720" cy="676656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83080" y="2084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definition, legacy system, T+1, PCID, and BRE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83210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96312"/>
            <a:ext cx="1188720" cy="67665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79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Q6–Q10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83080" y="28895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files, GDW to Silver, AR Translation, SCD2, placeholders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83210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00984"/>
            <a:ext cx="1188720" cy="67665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83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Q11–Q15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Scenarios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83080" y="369417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returns too many rows, point-in-time balance, data timing, mapping choice, missing Org Unit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05656"/>
            <a:ext cx="83210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05656"/>
            <a:ext cx="1188720" cy="6766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88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Q16–Q20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Scenarios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83080" y="4498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accounts, legacy reports, BSB joins, V components, VAP in Silver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832104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Interactive HTML Book to take the full scored quiz with instant feedback and a score card!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9B6F6">
              <a:alpha val="12000"/>
            </a:srgbClr>
          </a:solidFill>
          <a:ln w="12700">
            <a:solidFill>
              <a:srgbClr val="29B6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a</a:t>
            </a:r>
            <a:endParaRPr lang="en-US" sz="4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CASB Expert Now!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200400" y="2724912"/>
            <a:ext cx="27432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035808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9992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is a legacy mainframe system managing current accounts with T+1 batch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3465576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3429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evolved from Genasi rules → NAP Product Master with PCIDs, bridged by BRE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3895344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38587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CASB files → GDW → ADA Bronze → Silver → Gold (future)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4325112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428853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join AR Translation; use SCD2 for history; AR Local ID for masked accounts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CASB POWER-UP SERIES  ·  COMPLETE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CASB Power-Up Series</dc:title>
  <dc:subject>PptxGenJS Presentation</dc:subject>
  <dc:creator>CASB Guide</dc:creator>
  <cp:lastModifiedBy>CASB Guide</cp:lastModifiedBy>
  <cp:revision>1</cp:revision>
  <dcterms:created xsi:type="dcterms:W3CDTF">2026-03-20T05:27:48Z</dcterms:created>
  <dcterms:modified xsi:type="dcterms:W3CDTF">2026-03-20T05:27:48Z</dcterms:modified>
</cp:coreProperties>
</file>